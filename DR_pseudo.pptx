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1" r:id="rId4"/>
    <p:sldId id="257" r:id="rId5"/>
    <p:sldId id="260" r:id="rId6"/>
    <p:sldId id="262" r:id="rId7"/>
    <p:sldId id="263" r:id="rId8"/>
    <p:sldId id="264" r:id="rId9"/>
    <p:sldId id="265" r:id="rId10"/>
    <p:sldId id="259" r:id="rId11"/>
    <p:sldId id="258" r:id="rId12"/>
    <p:sldId id="268" r:id="rId13"/>
    <p:sldId id="267" r:id="rId14"/>
    <p:sldId id="279" r:id="rId15"/>
    <p:sldId id="269" r:id="rId16"/>
    <p:sldId id="275" r:id="rId17"/>
    <p:sldId id="270" r:id="rId18"/>
    <p:sldId id="271" r:id="rId19"/>
    <p:sldId id="276" r:id="rId20"/>
    <p:sldId id="280" r:id="rId21"/>
    <p:sldId id="281" r:id="rId22"/>
    <p:sldId id="282" r:id="rId23"/>
    <p:sldId id="272" r:id="rId24"/>
    <p:sldId id="274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62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0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8CCB-9DA7-B136-366C-9AC8D4F28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3E9EF-AB2B-9707-673E-B93D8CD0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DB32E-210C-8DEE-3B26-8C6B8275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E56E5-6CC8-1931-C08D-83A2DC61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BAA9B-9403-0DC2-FFC5-07157F9B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7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7C8F-40FA-52F9-767E-50ACEAD5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C3C35-BC6E-9224-D80F-B6B304AF5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B4D84-78D1-E304-22AE-2973E157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17397-307A-EBCA-1DE3-F8E19034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6B26-B3DE-1F21-CEB6-274F12BD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7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9690-9B39-F0CC-3F19-2AD0542E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A5D4C-71C0-0559-9EB7-E1619A94B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253F5-BDE5-BF89-5E9C-9D63F825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C275B-F57A-4098-5BDF-FAF2DD6C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29AC-EF6C-0553-0FD3-7EC5E29A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6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CF3C-50E6-B9D2-8063-3F36F6A5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E9E3-A189-09C5-EEBA-2027AF83A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CB29D-98E7-8F0C-2266-981B5F905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C202C-5A1C-A290-FEC0-91640D2A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60CB0-D47A-79D1-3616-473E6C1E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5A834-33C0-032D-10C2-9C948B3C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2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D278-F84C-71E1-5F7B-1A3E5C59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2DD74-EA74-7F7B-BF84-C442014AD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048F0-9381-5912-07EA-091B42DEA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BA9C2-1B82-BEA7-8113-9BE540ADA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174F8-9911-4F16-13F7-67D79D5E9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2BDB0-1BBF-25AE-95BC-EE2D1AA7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A120F-4E23-C1D8-5340-44B928DE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4C474-550E-2010-0BA9-01FE0D40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3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AB41-04FF-8EBE-FA7C-292D7D59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13C81-A6D8-F53C-911C-025DFB5B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5DBF2-EF8E-C25B-6D36-9EAFE9926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32570-9244-FE4C-BFBD-AAB6587C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1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44C569-ABF2-D82E-35AF-6249838C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65437-1A97-6D7B-B95E-3E0474E8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24C72-F6E3-1CE5-EC29-A5B24FC7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B04D-D338-4AD3-52BE-354FF089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CC1F1-630E-D544-CDB4-88272CAFB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1B08-220F-1CE9-2470-9594DD6EE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077BA-2A1A-87B0-C540-7C3CFD4A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F4F38-9699-FF96-2F7B-5E3A0C67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BF06C-DC7B-109B-226C-6826C159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9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A5CB-79D6-1B5D-4CF0-F6D7E21E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263CF-25B7-0F8D-4E9F-E811AD181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B7094-025F-427B-9B78-60C7600D5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FD84-3E19-E89D-CF64-223AD3E0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3D93B-1707-CEF0-0A19-E4AAE974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E6133-7D50-AC61-3E64-5CF78BD0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426C-BB50-1411-1D9A-CFB11765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38790-CCA7-FA3F-1068-1D1A40050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45F1A-F4B0-68CD-6A25-3A32CEAF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7259-41F3-4ABA-C6A6-C5F7F4B7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17010-EFB3-46A1-B6B9-C91C8EF5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0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871A82-9FEF-62AC-0639-D4E3B718D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84234-763C-191B-A412-1B75FD90A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1901E-1689-E239-571C-E622D9BC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D086A-6DCC-7EAB-41FE-3BD8EBCF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EF6F-38AF-94CC-712D-4389FE6E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4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77931-A8F8-4BAB-3642-64B286EB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3C405-C6F2-A3A3-7E22-91C6595B1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3BF4A-355F-69A2-3D82-0C5835A15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571CF-CA12-4DD8-8AFD-77A9B40B857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EDB7E-6CF1-0EDD-7EB5-3EBE4F7B4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C6FA3-9B88-999D-0C61-8C0D3C52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1443-AC14-4B0F-B7FA-3CA220B6F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8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29094501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8E59-68F2-1630-9F44-6DCE9DDA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4469"/>
            <a:ext cx="10515600" cy="89761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Doubly Robust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E835-44CD-330B-D49A-2E528840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5200244"/>
            <a:ext cx="10613571" cy="8817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Wang J. </a:t>
            </a:r>
            <a:r>
              <a:rPr lang="en-US" b="1" dirty="0"/>
              <a:t>A simple, doubly robust, efficient estimator for survival functions using pseudo-observations</a:t>
            </a:r>
            <a:r>
              <a:rPr lang="en-US" dirty="0"/>
              <a:t>. Pharm Stat. 2018 Feb;17(1):38-48. </a:t>
            </a:r>
            <a:r>
              <a:rPr lang="en-US" dirty="0" err="1"/>
              <a:t>doi</a:t>
            </a:r>
            <a:r>
              <a:rPr lang="en-US" dirty="0"/>
              <a:t>: 10.1002/pst.1834. </a:t>
            </a:r>
            <a:r>
              <a:rPr lang="en-US" dirty="0" err="1"/>
              <a:t>Epub</a:t>
            </a:r>
            <a:r>
              <a:rPr lang="en-US" dirty="0"/>
              <a:t> 2017 Nov 1. PMID: 29094501.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pubmed.ncbi.nlm.nih.gov</a:t>
            </a:r>
            <a:r>
              <a:rPr lang="en-US" dirty="0">
                <a:hlinkClick r:id="rId2"/>
              </a:rPr>
              <a:t>/29094501/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B92EC-F1E4-3EEF-BCA6-9270572F5208}"/>
              </a:ext>
            </a:extLst>
          </p:cNvPr>
          <p:cNvSpPr txBox="1"/>
          <p:nvPr/>
        </p:nvSpPr>
        <p:spPr>
          <a:xfrm>
            <a:off x="664029" y="2488170"/>
            <a:ext cx="110163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a discussion-cum-coding session.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focus will be on the survival outcome.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Last week, Jincheng presented about treatment specific cox and weighted Nelson-Aalen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focus will be on “Pseudo-observation-based” approach to DR.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30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CB02-2CD5-03D9-A2F0-123D3E8CD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5" y="261258"/>
            <a:ext cx="11821885" cy="9035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Outline of today’s </a:t>
            </a:r>
            <a:r>
              <a:rPr lang="en-US" sz="2400" b="1" dirty="0"/>
              <a:t>(or next session) </a:t>
            </a:r>
            <a:r>
              <a:rPr lang="en-US" b="1" dirty="0"/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2769F-BD97-1FFC-1C7C-F38A45382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686" y="1502229"/>
            <a:ext cx="10352314" cy="4386942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US" dirty="0"/>
              <a:t>Theory of Pseudo-Observation based estimators.</a:t>
            </a:r>
          </a:p>
          <a:p>
            <a:pPr marL="457200" indent="-457200" algn="l">
              <a:buAutoNum type="arabicPeriod"/>
            </a:pPr>
            <a:r>
              <a:rPr lang="en-US" dirty="0"/>
              <a:t>Simulation study set up.</a:t>
            </a:r>
          </a:p>
          <a:p>
            <a:pPr algn="l"/>
            <a:r>
              <a:rPr lang="en-US" dirty="0"/>
              <a:t>	- </a:t>
            </a:r>
            <a:r>
              <a:rPr lang="en-US" u="sng" dirty="0"/>
              <a:t>Point estimate</a:t>
            </a:r>
            <a:r>
              <a:rPr lang="en-US" dirty="0"/>
              <a:t>: DR-Pseudo vs. IPTW-Pseudo vs. Unadjusted KM. </a:t>
            </a:r>
          </a:p>
          <a:p>
            <a:pPr algn="l"/>
            <a:r>
              <a:rPr lang="en-US" dirty="0"/>
              <a:t>	- </a:t>
            </a:r>
            <a:r>
              <a:rPr lang="en-US" u="sng" dirty="0"/>
              <a:t>SE estimate</a:t>
            </a:r>
            <a:r>
              <a:rPr lang="en-US" dirty="0"/>
              <a:t>: Empirical vs. Bootstrap for DR-Pseudo.</a:t>
            </a:r>
          </a:p>
          <a:p>
            <a:pPr algn="l"/>
            <a:r>
              <a:rPr lang="en-US" dirty="0"/>
              <a:t>3.    R codes.</a:t>
            </a:r>
          </a:p>
          <a:p>
            <a:pPr algn="l"/>
            <a:r>
              <a:rPr lang="en-US" dirty="0"/>
              <a:t>	- Manually written based on theory presented on the paper.</a:t>
            </a:r>
          </a:p>
          <a:p>
            <a:pPr algn="l"/>
            <a:r>
              <a:rPr lang="en-US" dirty="0"/>
              <a:t>	- R package (adjustedCurves).</a:t>
            </a:r>
          </a:p>
          <a:p>
            <a:pPr algn="l"/>
            <a:r>
              <a:rPr lang="en-US" dirty="0"/>
              <a:t>4.    Simulation results.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3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76EE-3EDD-24B0-A4C8-E6884ABE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Through out this presentation..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A62A4-1BB2-36A6-4425-CC724552F8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Goal:</a:t>
                </a:r>
                <a:r>
                  <a:rPr lang="en-US" dirty="0"/>
                  <a:t> To estimate </a:t>
                </a:r>
                <a:r>
                  <a:rPr lang="en-US" i="1" dirty="0"/>
                  <a:t>population average survival probability in treatment arm</a:t>
                </a:r>
                <a:r>
                  <a:rPr lang="en-US" dirty="0"/>
                  <a:t>, at fixed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4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Similarly, we can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then can estimate average treatment effect (ATE) in whatever way we desire.</a:t>
                </a:r>
              </a:p>
              <a:p>
                <a:pPr marL="0" indent="0">
                  <a:buNone/>
                </a:pPr>
                <a:r>
                  <a:rPr lang="en-US" sz="2000" dirty="0"/>
                  <a:t>(Not in this presentation though)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A62A4-1BB2-36A6-4425-CC724552F8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7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3CD190-B489-1347-F263-2AA8781E279D}"/>
              </a:ext>
            </a:extLst>
          </p:cNvPr>
          <p:cNvSpPr txBox="1"/>
          <p:nvPr/>
        </p:nvSpPr>
        <p:spPr>
          <a:xfrm>
            <a:off x="283028" y="254560"/>
            <a:ext cx="369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Treatment is randomized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9FF93-8DFD-4B26-B2CF-D0069D2BFAB1}"/>
              </a:ext>
            </a:extLst>
          </p:cNvPr>
          <p:cNvSpPr txBox="1"/>
          <p:nvPr/>
        </p:nvSpPr>
        <p:spPr>
          <a:xfrm>
            <a:off x="6095999" y="298103"/>
            <a:ext cx="5812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Treatment is not randomized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120E44-F592-01CC-468C-27FB9EB94480}"/>
                  </a:ext>
                </a:extLst>
              </p:cNvPr>
              <p:cNvSpPr txBox="1"/>
              <p:nvPr/>
            </p:nvSpPr>
            <p:spPr>
              <a:xfrm>
                <a:off x="6095999" y="759768"/>
                <a:ext cx="5812974" cy="37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Kaplan Meier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biased.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120E44-F592-01CC-468C-27FB9EB94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759768"/>
                <a:ext cx="5812974" cy="378758"/>
              </a:xfrm>
              <a:prstGeom prst="rect">
                <a:avLst/>
              </a:prstGeom>
              <a:blipFill>
                <a:blip r:embed="rId2"/>
                <a:stretch>
                  <a:fillRect l="-839" t="-8065"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DEA5D7-84E0-E214-4BC7-C288CA54D597}"/>
                  </a:ext>
                </a:extLst>
              </p:cNvPr>
              <p:cNvSpPr txBox="1"/>
              <p:nvPr/>
            </p:nvSpPr>
            <p:spPr>
              <a:xfrm>
                <a:off x="283028" y="759768"/>
                <a:ext cx="4343401" cy="655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Kaplan Meier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works out well.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DEA5D7-84E0-E214-4BC7-C288CA54D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28" y="759768"/>
                <a:ext cx="4343401" cy="655757"/>
              </a:xfrm>
              <a:prstGeom prst="rect">
                <a:avLst/>
              </a:prstGeom>
              <a:blipFill>
                <a:blip r:embed="rId3"/>
                <a:stretch>
                  <a:fillRect l="-1122" t="-4673" b="-1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0C3B0F-B29C-E405-7BCA-8F1E76E51BE8}"/>
                  </a:ext>
                </a:extLst>
              </p:cNvPr>
              <p:cNvSpPr txBox="1"/>
              <p:nvPr/>
            </p:nvSpPr>
            <p:spPr>
              <a:xfrm>
                <a:off x="6095999" y="1491559"/>
                <a:ext cx="5529944" cy="47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How to estimate unbiased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0C3B0F-B29C-E405-7BCA-8F1E76E51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491559"/>
                <a:ext cx="5529944" cy="474169"/>
              </a:xfrm>
              <a:prstGeom prst="rect">
                <a:avLst/>
              </a:prstGeom>
              <a:blipFill>
                <a:blip r:embed="rId4"/>
                <a:stretch>
                  <a:fillRect l="-1654" t="-10390" b="-31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D8D7DB-BB07-568E-D948-242EE28128A7}"/>
                  </a:ext>
                </a:extLst>
              </p:cNvPr>
              <p:cNvSpPr txBox="1"/>
              <p:nvPr/>
            </p:nvSpPr>
            <p:spPr>
              <a:xfrm>
                <a:off x="6096000" y="2255595"/>
                <a:ext cx="5301343" cy="932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Assuming un-confoundedness, IPTW.</a:t>
                </a:r>
              </a:p>
              <a:p>
                <a:r>
                  <a:rPr lang="en-US" dirty="0"/>
                  <a:t>- Weighted KM estimators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unbiased.</a:t>
                </a:r>
              </a:p>
              <a:p>
                <a:r>
                  <a:rPr lang="en-US" dirty="0"/>
                  <a:t>- Requires the correct PS model specification.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D8D7DB-BB07-568E-D948-242EE2812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55595"/>
                <a:ext cx="5301343" cy="932756"/>
              </a:xfrm>
              <a:prstGeom prst="rect">
                <a:avLst/>
              </a:prstGeom>
              <a:blipFill>
                <a:blip r:embed="rId5"/>
                <a:stretch>
                  <a:fillRect l="-920" t="-2614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3FE9DE-A33C-2174-9FC3-2802DCD86ABA}"/>
                  </a:ext>
                </a:extLst>
              </p:cNvPr>
              <p:cNvSpPr txBox="1"/>
              <p:nvPr/>
            </p:nvSpPr>
            <p:spPr>
              <a:xfrm>
                <a:off x="6095999" y="3435831"/>
                <a:ext cx="5301344" cy="932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Direct adjustment in outcome regression model.</a:t>
                </a:r>
              </a:p>
              <a:p>
                <a:r>
                  <a:rPr lang="en-US" dirty="0"/>
                  <a:t>-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estimated using g-computation.</a:t>
                </a:r>
              </a:p>
              <a:p>
                <a:r>
                  <a:rPr lang="en-US" dirty="0"/>
                  <a:t>- Requires the correct OR model specification.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3FE9DE-A33C-2174-9FC3-2802DCD86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435831"/>
                <a:ext cx="5301344" cy="932756"/>
              </a:xfrm>
              <a:prstGeom prst="rect">
                <a:avLst/>
              </a:prstGeom>
              <a:blipFill>
                <a:blip r:embed="rId6"/>
                <a:stretch>
                  <a:fillRect l="-920" t="-3268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e 20">
            <a:extLst>
              <a:ext uri="{FF2B5EF4-FFF2-40B4-BE49-F238E27FC236}">
                <a16:creationId xmlns:a16="http://schemas.microsoft.com/office/drawing/2014/main" id="{D5D92E7B-18EC-9679-862F-01247AC71DFE}"/>
              </a:ext>
            </a:extLst>
          </p:cNvPr>
          <p:cNvSpPr/>
          <p:nvPr/>
        </p:nvSpPr>
        <p:spPr>
          <a:xfrm>
            <a:off x="5671457" y="2255594"/>
            <a:ext cx="424542" cy="21129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5E4B0B-AA6C-D106-8B6D-94CD67EDC274}"/>
              </a:ext>
            </a:extLst>
          </p:cNvPr>
          <p:cNvSpPr txBox="1"/>
          <p:nvPr/>
        </p:nvSpPr>
        <p:spPr>
          <a:xfrm>
            <a:off x="3276600" y="2896591"/>
            <a:ext cx="239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Both require the correct model.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BB101E-8470-29DE-DA77-3D484804ABFD}"/>
              </a:ext>
            </a:extLst>
          </p:cNvPr>
          <p:cNvSpPr txBox="1"/>
          <p:nvPr/>
        </p:nvSpPr>
        <p:spPr>
          <a:xfrm>
            <a:off x="1398814" y="5009584"/>
            <a:ext cx="9394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Doubly Robust Estimators – Combination of above two!</a:t>
            </a:r>
          </a:p>
          <a:p>
            <a:r>
              <a:rPr lang="en-US" sz="2800" dirty="0"/>
              <a:t>Doesn’t require both models to be correctly specified simultaneously. Only one correct model suffice.</a:t>
            </a:r>
          </a:p>
        </p:txBody>
      </p:sp>
    </p:spTree>
    <p:extLst>
      <p:ext uri="{BB962C8B-B14F-4D97-AF65-F5344CB8AC3E}">
        <p14:creationId xmlns:p14="http://schemas.microsoft.com/office/powerpoint/2010/main" val="30487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80B5-1972-BAF2-C351-E348A770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 estimation for </a:t>
            </a:r>
            <a:r>
              <a:rPr lang="en-US" b="1" dirty="0"/>
              <a:t>continuous outcomes </a:t>
            </a:r>
            <a:r>
              <a:rPr lang="en-US" dirty="0"/>
              <a:t>-  Easy to implement.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50D78-76D7-77C2-D03A-1C143CCFCF9C}"/>
              </a:ext>
            </a:extLst>
          </p:cNvPr>
          <p:cNvSpPr txBox="1"/>
          <p:nvPr/>
        </p:nvSpPr>
        <p:spPr>
          <a:xfrm>
            <a:off x="838200" y="2229531"/>
            <a:ext cx="1051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Survival outcomes</a:t>
            </a:r>
            <a:r>
              <a:rPr lang="en-US" sz="4400" dirty="0"/>
              <a:t>, not so easy.</a:t>
            </a:r>
          </a:p>
          <a:p>
            <a:r>
              <a:rPr lang="en-US" sz="4400" dirty="0"/>
              <a:t>Because of censoring.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6B6FD-9964-2872-4BA2-3A83A10737B7}"/>
              </a:ext>
            </a:extLst>
          </p:cNvPr>
          <p:cNvSpPr txBox="1"/>
          <p:nvPr/>
        </p:nvSpPr>
        <p:spPr>
          <a:xfrm>
            <a:off x="838200" y="4214924"/>
            <a:ext cx="1051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What if we modify the survival outcomes to a continuous outcome (in pseudo way)?</a:t>
            </a:r>
          </a:p>
        </p:txBody>
      </p:sp>
    </p:spTree>
    <p:extLst>
      <p:ext uri="{BB962C8B-B14F-4D97-AF65-F5344CB8AC3E}">
        <p14:creationId xmlns:p14="http://schemas.microsoft.com/office/powerpoint/2010/main" val="346211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45E29-60B4-9D35-00B9-EC3595237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69183"/>
            <a:ext cx="10515600" cy="658132"/>
          </a:xfrm>
        </p:spPr>
        <p:txBody>
          <a:bodyPr>
            <a:noAutofit/>
          </a:bodyPr>
          <a:lstStyle/>
          <a:p>
            <a:r>
              <a:rPr lang="en-US" b="1" dirty="0"/>
              <a:t>Pseudo-observation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506E-DAD0-640D-FA51-051306B464DA}"/>
              </a:ext>
            </a:extLst>
          </p:cNvPr>
          <p:cNvSpPr txBox="1"/>
          <p:nvPr/>
        </p:nvSpPr>
        <p:spPr>
          <a:xfrm>
            <a:off x="2078147" y="1124016"/>
            <a:ext cx="1937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Complex survival data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FAC9AA-FCE2-09C3-9A5D-BF704E496F72}"/>
              </a:ext>
            </a:extLst>
          </p:cNvPr>
          <p:cNvCxnSpPr/>
          <p:nvPr/>
        </p:nvCxnSpPr>
        <p:spPr>
          <a:xfrm>
            <a:off x="4229099" y="1654935"/>
            <a:ext cx="35269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EAF43-93E9-5887-75EE-E774B97B9867}"/>
                  </a:ext>
                </a:extLst>
              </p:cNvPr>
              <p:cNvSpPr txBox="1"/>
              <p:nvPr/>
            </p:nvSpPr>
            <p:spPr>
              <a:xfrm>
                <a:off x="4767943" y="1193261"/>
                <a:ext cx="26561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each patient,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EAF43-93E9-5887-75EE-E774B97B9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943" y="1193261"/>
                <a:ext cx="2656115" cy="461665"/>
              </a:xfrm>
              <a:prstGeom prst="rect">
                <a:avLst/>
              </a:prstGeom>
              <a:blipFill>
                <a:blip r:embed="rId2"/>
                <a:stretch>
                  <a:fillRect l="-3440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B9CE2F-FCB5-13A4-5B28-15E8A9000AB6}"/>
                  </a:ext>
                </a:extLst>
              </p:cNvPr>
              <p:cNvSpPr txBox="1"/>
              <p:nvPr/>
            </p:nvSpPr>
            <p:spPr>
              <a:xfrm>
                <a:off x="8106974" y="1032672"/>
                <a:ext cx="1937658" cy="1244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Patient’s contribution to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B9CE2F-FCB5-13A4-5B28-15E8A9000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974" y="1032672"/>
                <a:ext cx="1937658" cy="1244508"/>
              </a:xfrm>
              <a:prstGeom prst="rect">
                <a:avLst/>
              </a:prstGeom>
              <a:blipFill>
                <a:blip r:embed="rId3"/>
                <a:stretch>
                  <a:fillRect l="-5031" t="-3902" r="-943" b="-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48BC68-FE44-87D1-F96D-E44AD4A2323F}"/>
                  </a:ext>
                </a:extLst>
              </p:cNvPr>
              <p:cNvSpPr txBox="1"/>
              <p:nvPr/>
            </p:nvSpPr>
            <p:spPr>
              <a:xfrm>
                <a:off x="849086" y="4004173"/>
                <a:ext cx="10319657" cy="951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−1)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  <m:sub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48BC68-FE44-87D1-F96D-E44AD4A2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6" y="4004173"/>
                <a:ext cx="10319657" cy="9515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DB7E9A-3C4B-8E39-4D3E-80F58462E02D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5022732" y="5103038"/>
            <a:ext cx="0" cy="344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0074EF-3C6A-C1AA-AD4A-E4F5A8DDE356}"/>
              </a:ext>
            </a:extLst>
          </p:cNvPr>
          <p:cNvSpPr txBox="1"/>
          <p:nvPr/>
        </p:nvSpPr>
        <p:spPr>
          <a:xfrm>
            <a:off x="4272642" y="5447933"/>
            <a:ext cx="1883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KM estimator using all patients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296321-3990-9CA0-7339-92F254E5C539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9892372" y="5121266"/>
            <a:ext cx="0" cy="37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9054FA-21F1-23A9-21F9-5B10CFBDDC71}"/>
                  </a:ext>
                </a:extLst>
              </p:cNvPr>
              <p:cNvSpPr txBox="1"/>
              <p:nvPr/>
            </p:nvSpPr>
            <p:spPr>
              <a:xfrm>
                <a:off x="8950757" y="5470020"/>
                <a:ext cx="20982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KM estimator using all patients, but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9054FA-21F1-23A9-21F9-5B10CFBDD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757" y="5470020"/>
                <a:ext cx="2098202" cy="646331"/>
              </a:xfrm>
              <a:prstGeom prst="rect">
                <a:avLst/>
              </a:prstGeom>
              <a:blipFill>
                <a:blip r:embed="rId5"/>
                <a:stretch>
                  <a:fillRect l="-2326" t="-3774" r="-3198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>
            <a:extLst>
              <a:ext uri="{FF2B5EF4-FFF2-40B4-BE49-F238E27FC236}">
                <a16:creationId xmlns:a16="http://schemas.microsoft.com/office/drawing/2014/main" id="{256F8167-759D-E36D-3A54-C31FAAA09579}"/>
              </a:ext>
            </a:extLst>
          </p:cNvPr>
          <p:cNvSpPr/>
          <p:nvPr/>
        </p:nvSpPr>
        <p:spPr>
          <a:xfrm rot="16200000">
            <a:off x="4928480" y="4166168"/>
            <a:ext cx="188503" cy="168523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48C225EC-B46C-C6BA-C3C1-EE7530A1B25E}"/>
              </a:ext>
            </a:extLst>
          </p:cNvPr>
          <p:cNvSpPr/>
          <p:nvPr/>
        </p:nvSpPr>
        <p:spPr>
          <a:xfrm rot="16200000">
            <a:off x="9798120" y="3870427"/>
            <a:ext cx="188504" cy="231317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DC5ABC-BA38-D62F-6D31-4E919A346872}"/>
              </a:ext>
            </a:extLst>
          </p:cNvPr>
          <p:cNvSpPr/>
          <p:nvPr/>
        </p:nvSpPr>
        <p:spPr>
          <a:xfrm>
            <a:off x="721851" y="3658038"/>
            <a:ext cx="2325124" cy="16891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ED4647-D1C4-5A17-99BC-3E7D5362979A}"/>
              </a:ext>
            </a:extLst>
          </p:cNvPr>
          <p:cNvSpPr txBox="1"/>
          <p:nvPr/>
        </p:nvSpPr>
        <p:spPr>
          <a:xfrm>
            <a:off x="1143041" y="5463895"/>
            <a:ext cx="1593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outcome (continuous)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58385A-97F8-005F-1C76-BAA083105B08}"/>
              </a:ext>
            </a:extLst>
          </p:cNvPr>
          <p:cNvSpPr txBox="1"/>
          <p:nvPr/>
        </p:nvSpPr>
        <p:spPr>
          <a:xfrm>
            <a:off x="533399" y="2251715"/>
            <a:ext cx="106353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much does the overall survival curve changes when we remove this one patient?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88B63E-6A01-1CF5-A17C-59ABB4605AF3}"/>
                  </a:ext>
                </a:extLst>
              </p:cNvPr>
              <p:cNvSpPr txBox="1"/>
              <p:nvPr/>
            </p:nvSpPr>
            <p:spPr>
              <a:xfrm>
                <a:off x="533399" y="6333046"/>
                <a:ext cx="4234543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p>
                            </m:sSup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+ o(1) as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∞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88B63E-6A01-1CF5-A17C-59ABB4605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6333046"/>
                <a:ext cx="4234543" cy="404983"/>
              </a:xfrm>
              <a:prstGeom prst="rect">
                <a:avLst/>
              </a:prstGeom>
              <a:blipFill>
                <a:blip r:embed="rId6"/>
                <a:stretch>
                  <a:fillRect t="-151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27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71C64E-4866-0BFD-3087-28D38489D8B8}"/>
              </a:ext>
            </a:extLst>
          </p:cNvPr>
          <p:cNvSpPr txBox="1"/>
          <p:nvPr/>
        </p:nvSpPr>
        <p:spPr>
          <a:xfrm>
            <a:off x="125186" y="-54489"/>
            <a:ext cx="11419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Constructing estimators based on generated pseudo-observations.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A9864-3554-A767-E9EA-001DAA94B813}"/>
                  </a:ext>
                </a:extLst>
              </p:cNvPr>
              <p:cNvSpPr txBox="1"/>
              <p:nvPr/>
            </p:nvSpPr>
            <p:spPr>
              <a:xfrm>
                <a:off x="255815" y="1306286"/>
                <a:ext cx="5840185" cy="1772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𝐼𝑃𝑇𝑊</m:t>
                          </m:r>
                        </m:sup>
                      </m:sSubSup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A9864-3554-A767-E9EA-001DAA94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15" y="1306286"/>
                <a:ext cx="5840185" cy="17726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C005C6-95A5-F09C-64A7-E2BE625BFB1E}"/>
                  </a:ext>
                </a:extLst>
              </p:cNvPr>
              <p:cNvSpPr txBox="1"/>
              <p:nvPr/>
            </p:nvSpPr>
            <p:spPr>
              <a:xfrm>
                <a:off x="239486" y="3721535"/>
                <a:ext cx="9671957" cy="214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𝐷𝑅</m:t>
                          </m:r>
                        </m:sup>
                      </m:sSubSup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d>
                                <m:d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4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C005C6-95A5-F09C-64A7-E2BE625B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6" y="3721535"/>
                <a:ext cx="9671957" cy="21419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5E1F78-3236-C64F-B857-78E02F3CB41D}"/>
              </a:ext>
            </a:extLst>
          </p:cNvPr>
          <p:cNvCxnSpPr>
            <a:cxnSpLocks/>
            <a:stCxn id="14" idx="1"/>
            <a:endCxn id="23" idx="1"/>
          </p:cNvCxnSpPr>
          <p:nvPr/>
        </p:nvCxnSpPr>
        <p:spPr>
          <a:xfrm>
            <a:off x="5900057" y="1828800"/>
            <a:ext cx="925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8739FFC-05D0-EA6D-2585-2CE01B1087BD}"/>
              </a:ext>
            </a:extLst>
          </p:cNvPr>
          <p:cNvSpPr/>
          <p:nvPr/>
        </p:nvSpPr>
        <p:spPr>
          <a:xfrm>
            <a:off x="5769429" y="1578429"/>
            <a:ext cx="130628" cy="50074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4FA96720-33FA-BB50-714B-0F37300C3A3B}"/>
              </a:ext>
            </a:extLst>
          </p:cNvPr>
          <p:cNvSpPr/>
          <p:nvPr/>
        </p:nvSpPr>
        <p:spPr>
          <a:xfrm>
            <a:off x="5366658" y="2405743"/>
            <a:ext cx="130628" cy="50074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A7ED0B-1BAB-5F77-FF45-EFC7DF8D1E9A}"/>
              </a:ext>
            </a:extLst>
          </p:cNvPr>
          <p:cNvCxnSpPr>
            <a:cxnSpLocks/>
            <a:stCxn id="18" idx="1"/>
            <a:endCxn id="24" idx="1"/>
          </p:cNvCxnSpPr>
          <p:nvPr/>
        </p:nvCxnSpPr>
        <p:spPr>
          <a:xfrm>
            <a:off x="5497286" y="2656114"/>
            <a:ext cx="13280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D73FCF-F241-66B3-E493-DF8804F869CB}"/>
              </a:ext>
            </a:extLst>
          </p:cNvPr>
          <p:cNvSpPr txBox="1"/>
          <p:nvPr/>
        </p:nvSpPr>
        <p:spPr>
          <a:xfrm>
            <a:off x="6825343" y="1644134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Pseudo observations.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DB1384-35CD-29B1-54F7-0513147DBD6D}"/>
              </a:ext>
            </a:extLst>
          </p:cNvPr>
          <p:cNvSpPr txBox="1"/>
          <p:nvPr/>
        </p:nvSpPr>
        <p:spPr>
          <a:xfrm>
            <a:off x="6825342" y="2332948"/>
            <a:ext cx="232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Propensity scores from PS model.</a:t>
            </a:r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F4A86921-3F8B-F4F7-14F5-38FB6BDF1ECF}"/>
              </a:ext>
            </a:extLst>
          </p:cNvPr>
          <p:cNvSpPr/>
          <p:nvPr/>
        </p:nvSpPr>
        <p:spPr>
          <a:xfrm>
            <a:off x="9598478" y="3972505"/>
            <a:ext cx="146957" cy="54683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C0CBBF-DF4B-D1C8-7076-F77A9E822DEE}"/>
              </a:ext>
            </a:extLst>
          </p:cNvPr>
          <p:cNvCxnSpPr>
            <a:cxnSpLocks/>
            <a:stCxn id="29" idx="1"/>
          </p:cNvCxnSpPr>
          <p:nvPr/>
        </p:nvCxnSpPr>
        <p:spPr>
          <a:xfrm>
            <a:off x="9745435" y="4245924"/>
            <a:ext cx="253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0FBF66-FCA1-5322-0E64-52929A9A8D7B}"/>
                  </a:ext>
                </a:extLst>
              </p:cNvPr>
              <p:cNvSpPr txBox="1"/>
              <p:nvPr/>
            </p:nvSpPr>
            <p:spPr>
              <a:xfrm>
                <a:off x="10042071" y="2079171"/>
                <a:ext cx="2237015" cy="5087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based on OR model.</a:t>
                </a:r>
              </a:p>
              <a:p>
                <a:endParaRPr lang="en-US" dirty="0"/>
              </a:p>
              <a:p>
                <a:r>
                  <a:rPr lang="en-US" dirty="0"/>
                  <a:t>Two options: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GLM/GEE on pseudo-observations.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Cox model on survival outcomes.</a:t>
                </a:r>
              </a:p>
              <a:p>
                <a:endParaRPr lang="en-US" dirty="0"/>
              </a:p>
              <a:p>
                <a:r>
                  <a:rPr lang="en-US" dirty="0"/>
                  <a:t>I used option 2, as option 1 had some model convergence issues. Will see the differences in results.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0FBF66-FCA1-5322-0E64-52929A9A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071" y="2079171"/>
                <a:ext cx="2237015" cy="5087739"/>
              </a:xfrm>
              <a:prstGeom prst="rect">
                <a:avLst/>
              </a:prstGeom>
              <a:blipFill>
                <a:blip r:embed="rId4"/>
                <a:stretch>
                  <a:fillRect l="-2452" t="-599" r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C4B41AD-CFA9-448B-8B1E-4F3B2B9A4A5C}"/>
              </a:ext>
            </a:extLst>
          </p:cNvPr>
          <p:cNvSpPr/>
          <p:nvPr/>
        </p:nvSpPr>
        <p:spPr>
          <a:xfrm>
            <a:off x="10042071" y="2079171"/>
            <a:ext cx="2073729" cy="46808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9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173F3F-452D-B16E-CB8F-33022EED21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Empirical variance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𝑫𝑹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173F3F-452D-B16E-CB8F-33022EED21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16FB35-A9C3-E754-F188-25C4D6AF7173}"/>
                  </a:ext>
                </a:extLst>
              </p:cNvPr>
              <p:cNvSpPr txBox="1"/>
              <p:nvPr/>
            </p:nvSpPr>
            <p:spPr>
              <a:xfrm>
                <a:off x="527957" y="2195970"/>
                <a:ext cx="11136086" cy="2466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d>
                                        <m:d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 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𝐷𝑅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16FB35-A9C3-E754-F188-25C4D6AF7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7" y="2195970"/>
                <a:ext cx="11136086" cy="2466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335526-EB50-4817-28FF-D6619D0611FF}"/>
              </a:ext>
            </a:extLst>
          </p:cNvPr>
          <p:cNvSpPr txBox="1"/>
          <p:nvPr/>
        </p:nvSpPr>
        <p:spPr>
          <a:xfrm>
            <a:off x="968829" y="5029200"/>
            <a:ext cx="10178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Alternatively, we can use bootstrap method to estimate uncertainty in point estimates.</a:t>
            </a:r>
          </a:p>
        </p:txBody>
      </p:sp>
    </p:spTree>
    <p:extLst>
      <p:ext uri="{BB962C8B-B14F-4D97-AF65-F5344CB8AC3E}">
        <p14:creationId xmlns:p14="http://schemas.microsoft.com/office/powerpoint/2010/main" val="393938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4373-754E-D981-7C1F-29A56FE7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3" y="248556"/>
            <a:ext cx="10515600" cy="864961"/>
          </a:xfrm>
        </p:spPr>
        <p:txBody>
          <a:bodyPr/>
          <a:lstStyle/>
          <a:p>
            <a:r>
              <a:rPr lang="en-US" b="1" dirty="0"/>
              <a:t>Let’s simulate….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7B0E99E-B81B-5830-2145-1827AEB09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943" y="1113517"/>
                <a:ext cx="10776857" cy="506344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Covariates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𝑀𝑉𝑁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Treatment: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𝑙𝑜𝑔𝑖𝑡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/>
                  <a:t>Survival: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u="sng" dirty="0"/>
                  <a:t>Weak confounding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 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+ 0.5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− 0.5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u="sng" dirty="0"/>
                  <a:t>Strong confounding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0.5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0.5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b="1" dirty="0"/>
                  <a:t>Censoring: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−3.5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b="1" dirty="0"/>
                  <a:t>Incorrect PS model:</a:t>
                </a:r>
                <a:r>
                  <a:rPr lang="en-US" dirty="0"/>
                  <a:t> Omitting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Incorrect OR model: </a:t>
                </a:r>
                <a:r>
                  <a:rPr lang="en-US" dirty="0"/>
                  <a:t>Replacing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7B0E99E-B81B-5830-2145-1827AEB09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943" y="1113517"/>
                <a:ext cx="10776857" cy="5063446"/>
              </a:xfrm>
              <a:blipFill>
                <a:blip r:embed="rId2"/>
                <a:stretch>
                  <a:fillRect l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70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A74E-2835-E1F6-3852-FCC896DC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365126"/>
            <a:ext cx="10929256" cy="734332"/>
          </a:xfrm>
        </p:spPr>
        <p:txBody>
          <a:bodyPr/>
          <a:lstStyle/>
          <a:p>
            <a:r>
              <a:rPr lang="en-US" b="1" dirty="0"/>
              <a:t>Simulation Set-Up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04F9C9-FAAF-639C-51AA-813A4F08A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632597"/>
              </p:ext>
            </p:extLst>
          </p:nvPr>
        </p:nvGraphicFramePr>
        <p:xfrm>
          <a:off x="424544" y="2605088"/>
          <a:ext cx="4880428" cy="277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8142">
                  <a:extLst>
                    <a:ext uri="{9D8B030D-6E8A-4147-A177-3AD203B41FA5}">
                      <a16:colId xmlns:a16="http://schemas.microsoft.com/office/drawing/2014/main" val="116005740"/>
                    </a:ext>
                  </a:extLst>
                </a:gridCol>
                <a:gridCol w="1932286">
                  <a:extLst>
                    <a:ext uri="{9D8B030D-6E8A-4147-A177-3AD203B41FA5}">
                      <a16:colId xmlns:a16="http://schemas.microsoft.com/office/drawing/2014/main" val="1336195745"/>
                    </a:ext>
                  </a:extLst>
                </a:gridCol>
              </a:tblGrid>
              <a:tr h="24833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Total # of simulations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76057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Sample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500, 2000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09842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points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5, 10, 20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188205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Degree of confounding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Weak, 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536266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PS model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5311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 model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014559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6629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1A46C9-67DD-12A4-D38F-4F1E5E7B2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525410"/>
              </p:ext>
            </p:extLst>
          </p:nvPr>
        </p:nvGraphicFramePr>
        <p:xfrm>
          <a:off x="6096001" y="2605088"/>
          <a:ext cx="4880428" cy="277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8142">
                  <a:extLst>
                    <a:ext uri="{9D8B030D-6E8A-4147-A177-3AD203B41FA5}">
                      <a16:colId xmlns:a16="http://schemas.microsoft.com/office/drawing/2014/main" val="116005740"/>
                    </a:ext>
                  </a:extLst>
                </a:gridCol>
                <a:gridCol w="1932286">
                  <a:extLst>
                    <a:ext uri="{9D8B030D-6E8A-4147-A177-3AD203B41FA5}">
                      <a16:colId xmlns:a16="http://schemas.microsoft.com/office/drawing/2014/main" val="1336195745"/>
                    </a:ext>
                  </a:extLst>
                </a:gridCol>
              </a:tblGrid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 # of simulations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76057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Sample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500, 2000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09842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 # of bootstraps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188205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Time points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5, 10, 20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536266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Degree of confounding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Weak, 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5311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PS model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014559"/>
                  </a:ext>
                </a:extLst>
              </a:tr>
              <a:tr h="248330">
                <a:tc>
                  <a:txBody>
                    <a:bodyPr/>
                    <a:lstStyle/>
                    <a:p>
                      <a:r>
                        <a:rPr lang="en-US" sz="2000" b="1" dirty="0"/>
                        <a:t>OR model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6629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4016F58-775F-A0C9-C201-83A5DFBA3E39}"/>
              </a:ext>
            </a:extLst>
          </p:cNvPr>
          <p:cNvSpPr txBox="1"/>
          <p:nvPr/>
        </p:nvSpPr>
        <p:spPr>
          <a:xfrm>
            <a:off x="424543" y="1313664"/>
            <a:ext cx="4880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Point Estimation Performance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162FF-9EA4-4154-5321-ECC683B2CEE0}"/>
              </a:ext>
            </a:extLst>
          </p:cNvPr>
          <p:cNvSpPr txBox="1"/>
          <p:nvPr/>
        </p:nvSpPr>
        <p:spPr>
          <a:xfrm>
            <a:off x="6096000" y="1313664"/>
            <a:ext cx="4354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Variance Estimation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1C8023-F000-1FFD-8C31-247E4A1B6657}"/>
              </a:ext>
            </a:extLst>
          </p:cNvPr>
          <p:cNvSpPr/>
          <p:nvPr/>
        </p:nvSpPr>
        <p:spPr>
          <a:xfrm>
            <a:off x="424544" y="1268116"/>
            <a:ext cx="4354286" cy="9996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2C845-E3A5-AF0A-33B0-5076E06CFD68}"/>
              </a:ext>
            </a:extLst>
          </p:cNvPr>
          <p:cNvSpPr/>
          <p:nvPr/>
        </p:nvSpPr>
        <p:spPr>
          <a:xfrm>
            <a:off x="6096000" y="1268115"/>
            <a:ext cx="4354286" cy="9996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49D3-B18C-68AB-D71B-8BA7C097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5726"/>
          </a:xfrm>
        </p:spPr>
        <p:txBody>
          <a:bodyPr/>
          <a:lstStyle/>
          <a:p>
            <a:r>
              <a:rPr lang="en-US" b="1" dirty="0"/>
              <a:t>Performance Metrics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530CC-1CC6-3D2E-1F2E-D2AC3939D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167743"/>
                <a:ext cx="5148943" cy="30092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Relative Bias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Relative 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Relative MSE = Relative Bias</a:t>
                </a:r>
                <a:r>
                  <a:rPr lang="en-US" baseline="30000" dirty="0"/>
                  <a:t>2</a:t>
                </a:r>
                <a:r>
                  <a:rPr lang="en-US" dirty="0"/>
                  <a:t> + Relative SE</a:t>
                </a:r>
                <a:r>
                  <a:rPr lang="en-US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530CC-1CC6-3D2E-1F2E-D2AC3939D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167743"/>
                <a:ext cx="5148943" cy="3009220"/>
              </a:xfrm>
              <a:blipFill>
                <a:blip r:embed="rId2"/>
                <a:stretch>
                  <a:fillRect l="-2488" b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88C14F7-0AD9-6DAD-C392-9F8488F48D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859" y="3167743"/>
                <a:ext cx="5148943" cy="30092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Relative Bias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𝑆𝐸</m:t>
                                </m:r>
                              </m:e>
                            </m:acc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𝐷𝑅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88C14F7-0AD9-6DAD-C392-9F8488F4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9" y="3167743"/>
                <a:ext cx="5148943" cy="3009220"/>
              </a:xfrm>
              <a:prstGeom prst="rect">
                <a:avLst/>
              </a:prstGeom>
              <a:blipFill>
                <a:blip r:embed="rId3"/>
                <a:stretch>
                  <a:fillRect l="-2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CFFFB7A-F894-2F43-C5AA-04504AB56054}"/>
              </a:ext>
            </a:extLst>
          </p:cNvPr>
          <p:cNvSpPr txBox="1"/>
          <p:nvPr/>
        </p:nvSpPr>
        <p:spPr>
          <a:xfrm>
            <a:off x="762000" y="1690688"/>
            <a:ext cx="4354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Point Estimation Performance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BD9CD-90EE-6DDD-6716-17F0E91B54FF}"/>
              </a:ext>
            </a:extLst>
          </p:cNvPr>
          <p:cNvSpPr txBox="1"/>
          <p:nvPr/>
        </p:nvSpPr>
        <p:spPr>
          <a:xfrm>
            <a:off x="6204859" y="1690688"/>
            <a:ext cx="4354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Variance Estimation Performance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71627F-310E-13F0-5DEC-B84ED0C621FE}"/>
              </a:ext>
            </a:extLst>
          </p:cNvPr>
          <p:cNvSpPr/>
          <p:nvPr/>
        </p:nvSpPr>
        <p:spPr>
          <a:xfrm>
            <a:off x="762000" y="1667913"/>
            <a:ext cx="4354286" cy="9996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93FEB6-3911-39B2-96E7-35CBBBCDCBC6}"/>
              </a:ext>
            </a:extLst>
          </p:cNvPr>
          <p:cNvSpPr/>
          <p:nvPr/>
        </p:nvSpPr>
        <p:spPr>
          <a:xfrm>
            <a:off x="6199416" y="1667913"/>
            <a:ext cx="4354286" cy="9996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7EFCD-06E3-BC5E-A2FC-7CB2E6C0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 Codes</a:t>
            </a:r>
          </a:p>
        </p:txBody>
      </p:sp>
      <p:pic>
        <p:nvPicPr>
          <p:cNvPr id="5" name="Picture 4" descr="A logo with a blue circle and black text&#10;&#10;AI-generated content may be incorrect.">
            <a:extLst>
              <a:ext uri="{FF2B5EF4-FFF2-40B4-BE49-F238E27FC236}">
                <a16:creationId xmlns:a16="http://schemas.microsoft.com/office/drawing/2014/main" id="{2516EDE5-FF2C-63A2-C326-E4DECF579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09" y="1675227"/>
            <a:ext cx="1046238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2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8103-51FF-39B4-6A9C-77A01997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629" y="1989591"/>
            <a:ext cx="7358742" cy="2878818"/>
          </a:xfrm>
        </p:spPr>
        <p:txBody>
          <a:bodyPr>
            <a:normAutofit/>
          </a:bodyPr>
          <a:lstStyle/>
          <a:p>
            <a:r>
              <a:rPr lang="en-US" sz="7200" b="1" dirty="0"/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1867074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CE71B-E58B-ED3F-7374-4CC62C9C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8D2B-E5CE-EFB5-F7F2-DD9090D0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Old results</a:t>
            </a:r>
            <a:br>
              <a:rPr lang="en-US" dirty="0"/>
            </a:br>
            <a:r>
              <a:rPr lang="en-US" dirty="0"/>
              <a:t>Total # of simulations = 500</a:t>
            </a:r>
          </a:p>
        </p:txBody>
      </p:sp>
    </p:spTree>
    <p:extLst>
      <p:ext uri="{BB962C8B-B14F-4D97-AF65-F5344CB8AC3E}">
        <p14:creationId xmlns:p14="http://schemas.microsoft.com/office/powerpoint/2010/main" val="3405663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55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680B34D5-DBB3-8C12-A57E-1D0E51D27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43516"/>
            <a:ext cx="10905066" cy="47709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0CAF8F-D632-58D3-B043-5BD4775D050B}"/>
                  </a:ext>
                </a:extLst>
              </p:cNvPr>
              <p:cNvSpPr txBox="1"/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bias of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0CAF8F-D632-58D3-B043-5BD4775D0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blipFill>
                <a:blip r:embed="rId3"/>
                <a:stretch>
                  <a:fillRect l="-154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23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00A454D7-9653-5CC6-AFC2-9F4FD2AE2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" y="0"/>
            <a:ext cx="7070103" cy="6858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B55EA0-CBFF-13FC-7DD5-C20ABBD11A6F}"/>
              </a:ext>
            </a:extLst>
          </p:cNvPr>
          <p:cNvSpPr/>
          <p:nvPr/>
        </p:nvSpPr>
        <p:spPr>
          <a:xfrm>
            <a:off x="1447800" y="3505199"/>
            <a:ext cx="1785257" cy="18505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0B449C-81A5-4CDE-A052-9B890BD87495}"/>
              </a:ext>
            </a:extLst>
          </p:cNvPr>
          <p:cNvSpPr/>
          <p:nvPr/>
        </p:nvSpPr>
        <p:spPr>
          <a:xfrm>
            <a:off x="3340493" y="3505199"/>
            <a:ext cx="1785257" cy="18505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72C40E-2A01-BB26-7923-674DB0FC308E}"/>
              </a:ext>
            </a:extLst>
          </p:cNvPr>
          <p:cNvSpPr/>
          <p:nvPr/>
        </p:nvSpPr>
        <p:spPr>
          <a:xfrm>
            <a:off x="5233186" y="3505199"/>
            <a:ext cx="1785257" cy="18505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F3E751-5368-7E24-C991-0BEF461B34F3}"/>
              </a:ext>
            </a:extLst>
          </p:cNvPr>
          <p:cNvSpPr/>
          <p:nvPr/>
        </p:nvSpPr>
        <p:spPr>
          <a:xfrm>
            <a:off x="1447799" y="6193969"/>
            <a:ext cx="1785257" cy="18505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8CD3D7-BC11-3D15-1D6C-66134D095CE4}"/>
              </a:ext>
            </a:extLst>
          </p:cNvPr>
          <p:cNvSpPr/>
          <p:nvPr/>
        </p:nvSpPr>
        <p:spPr>
          <a:xfrm>
            <a:off x="3340492" y="6193968"/>
            <a:ext cx="1785257" cy="18505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2D48AB-374B-BA8A-7475-F1D2EB470045}"/>
              </a:ext>
            </a:extLst>
          </p:cNvPr>
          <p:cNvSpPr/>
          <p:nvPr/>
        </p:nvSpPr>
        <p:spPr>
          <a:xfrm>
            <a:off x="5203371" y="6193968"/>
            <a:ext cx="1785257" cy="185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71C8B9-B40E-93C8-23F0-5B74A8294F1A}"/>
              </a:ext>
            </a:extLst>
          </p:cNvPr>
          <p:cNvCxnSpPr>
            <a:cxnSpLocks/>
            <a:stCxn id="11" idx="0"/>
            <a:endCxn id="20" idx="1"/>
          </p:cNvCxnSpPr>
          <p:nvPr/>
        </p:nvCxnSpPr>
        <p:spPr>
          <a:xfrm flipV="1">
            <a:off x="6096000" y="4630321"/>
            <a:ext cx="1084915" cy="1563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E995D1E4-4206-12B3-396F-7DA32A3A8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915" y="3800251"/>
            <a:ext cx="4880008" cy="166014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11442DC-5197-4D96-DFE6-4DC08430F413}"/>
              </a:ext>
            </a:extLst>
          </p:cNvPr>
          <p:cNvSpPr/>
          <p:nvPr/>
        </p:nvSpPr>
        <p:spPr>
          <a:xfrm>
            <a:off x="7180914" y="3800251"/>
            <a:ext cx="4880007" cy="5350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2B95BF-CE8F-2BB4-3BAF-51BB7B041A5D}"/>
              </a:ext>
            </a:extLst>
          </p:cNvPr>
          <p:cNvCxnSpPr/>
          <p:nvPr/>
        </p:nvCxnSpPr>
        <p:spPr>
          <a:xfrm>
            <a:off x="6096000" y="413657"/>
            <a:ext cx="4245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5748D7A-5C7F-2179-D979-45DD1AA58357}"/>
              </a:ext>
            </a:extLst>
          </p:cNvPr>
          <p:cNvCxnSpPr>
            <a:cxnSpLocks/>
          </p:cNvCxnSpPr>
          <p:nvPr/>
        </p:nvCxnSpPr>
        <p:spPr>
          <a:xfrm>
            <a:off x="76200" y="616857"/>
            <a:ext cx="76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C550D6-B252-5B54-DED4-94F44640452D}"/>
              </a:ext>
            </a:extLst>
          </p:cNvPr>
          <p:cNvSpPr txBox="1"/>
          <p:nvPr/>
        </p:nvSpPr>
        <p:spPr>
          <a:xfrm>
            <a:off x="7180914" y="88879"/>
            <a:ext cx="4880009" cy="34163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‘Counter-intuitive’ results in the paper.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Due to random variability?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Probably need larger number of simulations.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More frequent counter-intuitive results in our case. We used 500 simulations in our results, but now 1000.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Possibility:</a:t>
            </a:r>
            <a:r>
              <a:rPr lang="en-US" dirty="0"/>
              <a:t> When the confounding isn’t too bad, perhaps the unadjusted method does better than any adjustment (under FF case)? </a:t>
            </a:r>
            <a:r>
              <a:rPr lang="en-US" i="1" dirty="0"/>
              <a:t>i.e., adjusting with a mis-specified model is more harmful than not adjusting.</a:t>
            </a:r>
          </a:p>
        </p:txBody>
      </p:sp>
    </p:spTree>
    <p:extLst>
      <p:ext uri="{BB962C8B-B14F-4D97-AF65-F5344CB8AC3E}">
        <p14:creationId xmlns:p14="http://schemas.microsoft.com/office/powerpoint/2010/main" val="3833308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6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A5C9D35-F3DD-CB2D-917E-1525D208E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29886"/>
            <a:ext cx="10905066" cy="4798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9880C1-5FCC-FFDB-10E6-E73178DC7C1C}"/>
                  </a:ext>
                </a:extLst>
              </p:cNvPr>
              <p:cNvSpPr txBox="1"/>
              <p:nvPr/>
            </p:nvSpPr>
            <p:spPr>
              <a:xfrm>
                <a:off x="643467" y="566057"/>
                <a:ext cx="8315476" cy="537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SE of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9880C1-5FCC-FFDB-10E6-E73178DC7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66057"/>
                <a:ext cx="8315476" cy="537583"/>
              </a:xfrm>
              <a:prstGeom prst="rect">
                <a:avLst/>
              </a:prstGeom>
              <a:blipFill>
                <a:blip r:embed="rId3"/>
                <a:stretch>
                  <a:fillRect l="-1540" t="-12500" b="-28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566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4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8AD6D53-6070-C54B-C5ED-B4E51CF84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16255"/>
            <a:ext cx="10905066" cy="4825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C4163F-BCA8-3541-18AE-5ABCAAA44D10}"/>
                  </a:ext>
                </a:extLst>
              </p:cNvPr>
              <p:cNvSpPr txBox="1"/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MSE of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C4163F-BCA8-3541-18AE-5ABCAAA44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blipFill>
                <a:blip r:embed="rId3"/>
                <a:stretch>
                  <a:fillRect l="-154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919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2D8B-B418-9ABC-A6C5-D0B4AD51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New results</a:t>
            </a:r>
            <a:br>
              <a:rPr lang="en-US" dirty="0"/>
            </a:br>
            <a:r>
              <a:rPr lang="en-US" dirty="0"/>
              <a:t>Total # of simulations = 1000</a:t>
            </a:r>
          </a:p>
        </p:txBody>
      </p:sp>
    </p:spTree>
    <p:extLst>
      <p:ext uri="{BB962C8B-B14F-4D97-AF65-F5344CB8AC3E}">
        <p14:creationId xmlns:p14="http://schemas.microsoft.com/office/powerpoint/2010/main" val="72283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4595-D1AA-76C4-7100-28ADDCAB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CD13F5-DA6B-0758-140D-B349BE3C4C70}"/>
                  </a:ext>
                </a:extLst>
              </p:cNvPr>
              <p:cNvSpPr txBox="1"/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bias of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CD13F5-DA6B-0758-140D-B349BE3C4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blipFill>
                <a:blip r:embed="rId2"/>
                <a:stretch>
                  <a:fillRect l="-154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292F8766-54E6-F57C-BCBA-1793D6265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50" y="1243616"/>
            <a:ext cx="11289883" cy="501637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2397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FE1E-FDEF-C551-FBE9-929ABF4F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E17272-4093-944B-B0CA-1488D022A27E}"/>
                  </a:ext>
                </a:extLst>
              </p:cNvPr>
              <p:cNvSpPr txBox="1"/>
              <p:nvPr/>
            </p:nvSpPr>
            <p:spPr>
              <a:xfrm>
                <a:off x="643467" y="566057"/>
                <a:ext cx="8315476" cy="537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SE of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E17272-4093-944B-B0CA-1488D022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66057"/>
                <a:ext cx="8315476" cy="537583"/>
              </a:xfrm>
              <a:prstGeom prst="rect">
                <a:avLst/>
              </a:prstGeom>
              <a:blipFill>
                <a:blip r:embed="rId2"/>
                <a:stretch>
                  <a:fillRect l="-1540" t="-12500" b="-28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4E48ABD-B02A-6604-4FEA-84DCAFA94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10" y="1103640"/>
            <a:ext cx="11200123" cy="494457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5326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5D1-486D-0417-0587-8D2B82A2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4EBD5A-C1C4-3DC3-F6D3-84B643DD058F}"/>
                  </a:ext>
                </a:extLst>
              </p:cNvPr>
              <p:cNvSpPr txBox="1"/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MSE of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4EBD5A-C1C4-3DC3-F6D3-84B643DD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66057"/>
                <a:ext cx="8315476" cy="523220"/>
              </a:xfrm>
              <a:prstGeom prst="rect">
                <a:avLst/>
              </a:prstGeom>
              <a:blipFill>
                <a:blip r:embed="rId2"/>
                <a:stretch>
                  <a:fillRect l="-154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400410A-C867-D4AB-E651-7A9FAC304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11" y="1089277"/>
            <a:ext cx="11298922" cy="498803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6020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67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lines and triangles&#10;&#10;AI-generated content may be incorrect.">
            <a:extLst>
              <a:ext uri="{FF2B5EF4-FFF2-40B4-BE49-F238E27FC236}">
                <a16:creationId xmlns:a16="http://schemas.microsoft.com/office/drawing/2014/main" id="{65540CE7-3209-0DE8-8D15-4D6C70515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43" y="1087322"/>
            <a:ext cx="10514390" cy="52046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550B26-ADE9-97A3-17D3-ECDB2C2B7A32}"/>
                  </a:ext>
                </a:extLst>
              </p:cNvPr>
              <p:cNvSpPr txBox="1"/>
              <p:nvPr/>
            </p:nvSpPr>
            <p:spPr>
              <a:xfrm>
                <a:off x="643466" y="566057"/>
                <a:ext cx="110715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Relative Bias of Empirical Vs. Bootstrap SE of DR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550B26-ADE9-97A3-17D3-ECDB2C2B7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6" y="566057"/>
                <a:ext cx="11071522" cy="523220"/>
              </a:xfrm>
              <a:prstGeom prst="rect">
                <a:avLst/>
              </a:prstGeom>
              <a:blipFill>
                <a:blip r:embed="rId3"/>
                <a:stretch>
                  <a:fillRect l="-115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326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ACC2F-E555-14A5-61AD-BCF71113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from paper</a:t>
            </a:r>
          </a:p>
        </p:txBody>
      </p:sp>
      <p:pic>
        <p:nvPicPr>
          <p:cNvPr id="5" name="Picture 4" descr="A table with numbers and a number of points&#10;&#10;AI-generated content may be incorrect.">
            <a:extLst>
              <a:ext uri="{FF2B5EF4-FFF2-40B4-BE49-F238E27FC236}">
                <a16:creationId xmlns:a16="http://schemas.microsoft.com/office/drawing/2014/main" id="{BD13A657-6C22-9206-3F49-9C3F44025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804" y="251016"/>
            <a:ext cx="7161652" cy="635596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E0F67E3-5B8B-3C07-0C2B-C0591ADD3D73}"/>
              </a:ext>
            </a:extLst>
          </p:cNvPr>
          <p:cNvSpPr/>
          <p:nvPr/>
        </p:nvSpPr>
        <p:spPr>
          <a:xfrm>
            <a:off x="9176657" y="1034143"/>
            <a:ext cx="729342" cy="3265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A4774C-3320-A8EB-45FE-4BFE822961D7}"/>
              </a:ext>
            </a:extLst>
          </p:cNvPr>
          <p:cNvSpPr/>
          <p:nvPr/>
        </p:nvSpPr>
        <p:spPr>
          <a:xfrm>
            <a:off x="9176657" y="1980556"/>
            <a:ext cx="729342" cy="3265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A3D2BB-35DA-147D-5605-C21729E6C6FA}"/>
              </a:ext>
            </a:extLst>
          </p:cNvPr>
          <p:cNvSpPr/>
          <p:nvPr/>
        </p:nvSpPr>
        <p:spPr>
          <a:xfrm>
            <a:off x="10068385" y="1034143"/>
            <a:ext cx="729342" cy="32657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3855E4-F80E-032B-EEFF-369222BA96F2}"/>
              </a:ext>
            </a:extLst>
          </p:cNvPr>
          <p:cNvSpPr/>
          <p:nvPr/>
        </p:nvSpPr>
        <p:spPr>
          <a:xfrm>
            <a:off x="10067483" y="1980556"/>
            <a:ext cx="729342" cy="32657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8E965-B91B-3FCC-5FE9-F4F309A86473}"/>
              </a:ext>
            </a:extLst>
          </p:cNvPr>
          <p:cNvSpPr txBox="1"/>
          <p:nvPr/>
        </p:nvSpPr>
        <p:spPr>
          <a:xfrm>
            <a:off x="117021" y="5372446"/>
            <a:ext cx="4452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Another ‘counter-intuitive’ results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096FCA-D864-8A01-B149-1681E80AC453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9541328" y="1360715"/>
            <a:ext cx="0" cy="619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71C85F-4B96-B93B-04C5-95FECAAF94CD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 flipH="1">
            <a:off x="10432154" y="1360715"/>
            <a:ext cx="902" cy="61984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793EE21-E4B0-F710-3929-0C76EAC98680}"/>
              </a:ext>
            </a:extLst>
          </p:cNvPr>
          <p:cNvSpPr/>
          <p:nvPr/>
        </p:nvSpPr>
        <p:spPr>
          <a:xfrm>
            <a:off x="10858520" y="1034143"/>
            <a:ext cx="729342" cy="32657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5DE2D6-1078-D9B2-0F28-2F28DAB2CA03}"/>
              </a:ext>
            </a:extLst>
          </p:cNvPr>
          <p:cNvCxnSpPr>
            <a:cxnSpLocks/>
          </p:cNvCxnSpPr>
          <p:nvPr/>
        </p:nvCxnSpPr>
        <p:spPr>
          <a:xfrm flipH="1">
            <a:off x="11222289" y="1360715"/>
            <a:ext cx="902" cy="61984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4F82DA9-620E-5F15-8636-3D19C8370C92}"/>
              </a:ext>
            </a:extLst>
          </p:cNvPr>
          <p:cNvSpPr/>
          <p:nvPr/>
        </p:nvSpPr>
        <p:spPr>
          <a:xfrm>
            <a:off x="10887551" y="1980556"/>
            <a:ext cx="729342" cy="32657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93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C2F4-D3C0-E2DD-73E4-1D38AE3F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271" y="2766218"/>
            <a:ext cx="2623457" cy="1325563"/>
          </a:xfrm>
        </p:spPr>
        <p:txBody>
          <a:bodyPr/>
          <a:lstStyle/>
          <a:p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335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11758</TotalTime>
  <Words>929</Words>
  <Application>Microsoft Office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 Theme</vt:lpstr>
      <vt:lpstr>Doubly Robust Estimation</vt:lpstr>
      <vt:lpstr>Outline of today’s (or next session) presentation</vt:lpstr>
      <vt:lpstr>Through out this presentation..</vt:lpstr>
      <vt:lpstr>PowerPoint Presentation</vt:lpstr>
      <vt:lpstr>DR estimation for continuous outcomes -  Easy to implement.</vt:lpstr>
      <vt:lpstr>Pseudo-observation approach</vt:lpstr>
      <vt:lpstr>PowerPoint Presentation</vt:lpstr>
      <vt:lpstr>Empirical variance of S ̂_1^DR (t)</vt:lpstr>
      <vt:lpstr>Let’s simulate….</vt:lpstr>
      <vt:lpstr>Simulation Set-Up</vt:lpstr>
      <vt:lpstr>Performance Metrics </vt:lpstr>
      <vt:lpstr>R Codes</vt:lpstr>
      <vt:lpstr>Simulation results</vt:lpstr>
      <vt:lpstr>Old results Total # of simulations = 500</vt:lpstr>
      <vt:lpstr>PowerPoint Presentation</vt:lpstr>
      <vt:lpstr>PowerPoint Presentation</vt:lpstr>
      <vt:lpstr>PowerPoint Presentation</vt:lpstr>
      <vt:lpstr>PowerPoint Presentation</vt:lpstr>
      <vt:lpstr>New results Total # of simulations = 1000</vt:lpstr>
      <vt:lpstr>PowerPoint Presentation</vt:lpstr>
      <vt:lpstr>PowerPoint Presentation</vt:lpstr>
      <vt:lpstr>PowerPoint Presentation</vt:lpstr>
      <vt:lpstr>PowerPoint Presentation</vt:lpstr>
      <vt:lpstr>Results from paper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Ravinder Singh</dc:creator>
  <cp:lastModifiedBy>Ravinder Singh</cp:lastModifiedBy>
  <cp:revision>132</cp:revision>
  <dcterms:created xsi:type="dcterms:W3CDTF">2025-08-14T00:03:40Z</dcterms:created>
  <dcterms:modified xsi:type="dcterms:W3CDTF">2025-08-26T17:39:18Z</dcterms:modified>
</cp:coreProperties>
</file>